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33737"/>
                </a:solidFill>
              </a:rPr>
              <a:t>rKYC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AI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737"/>
                </a:solidFill>
              </a:rPr>
              <a:t>Multi-Agent Orchestration for Risk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7B8"/>
                </a:solidFill>
              </a:rPr>
              <a:t>Enterprise-Grade Corporate Risk Detection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8167" y="4754880"/>
            <a:ext cx="2011680" cy="45720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33737"/>
                </a:solidFill>
              </a:rPr>
              <a:t>Multi-Agent 4-Layer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2727" y="4754880"/>
            <a:ext cx="2011680" cy="45720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33737"/>
                </a:solidFill>
              </a:rPr>
              <a:t>Anti-Hallucination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4754880"/>
            <a:ext cx="2011680" cy="45720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33737"/>
                </a:solidFill>
              </a:rPr>
              <a:t>9-Stage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1847" y="4754880"/>
            <a:ext cx="2011680" cy="45720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33737"/>
                </a:solidFill>
              </a:rPr>
              <a:t>Zero-Failure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AI Engine for KYC?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33737"/>
                </a:solidFill>
              </a:rPr>
              <a:t>Current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100584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" cy="100584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Manual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1,000+ 기업 수동 모니터링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45720" cy="100584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Fragmented 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내부 데이터 + 외부 뉴스 + 규제 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303520" cy="100584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45720" cy="100584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Delayed Signal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리스크 시그널 조기 탐지 어려움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5303520" cy="100584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45720" cy="100584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LLM Hallucination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금융 도메인에서 허위 정보 생성 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rKYC AI Engine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5303520" cy="10058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457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Multi-Agent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4-Layer Fallback으로 자동화된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834640"/>
            <a:ext cx="5303520" cy="10058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457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Unified Context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내부/외부 데이터 통합 컨텍스트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303520" cy="10058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023360"/>
            <a:ext cx="457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Real-time Signal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9-Stage Pipeline, ~22.7초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12080"/>
            <a:ext cx="5303520" cy="10058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212080"/>
            <a:ext cx="457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Anti-Hallucination Defense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B8"/>
                </a:solidFill>
              </a:rPr>
              <a:t>4-Layer 팩트 검증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rKYC AI Engine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33737"/>
                </a:solidFill>
              </a:rPr>
              <a:t>4 Core Modules for Enterprise Risk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3737"/>
                </a:solidFill>
              </a:rPr>
              <a:t>Signal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833"/>
                </a:solidFill>
              </a:rPr>
              <a:t>NLU 기반 리스크 시그널 추출
3-Tier LLM Fallback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00400"/>
            <a:ext cx="2377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AAB7B8"/>
                </a:solidFill>
              </a:rPr>
              <a:t>Claude Opus → GPT-5 → Gemini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65176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98DB"/>
                </a:solidFill>
              </a:rPr>
              <a:t>Multi-Agent Profiler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833"/>
                </a:solidFill>
              </a:rPr>
              <a:t>기업 프로파일 자동 구축
4-Layer Fallback 보장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200400"/>
            <a:ext cx="2377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AAB7B8"/>
                </a:solidFill>
              </a:rPr>
              <a:t>Perplexity + Gemini + Consensus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65176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Anti-Hallucination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833"/>
                </a:solidFill>
              </a:rPr>
              <a:t>4-Layer 팩트 검증
Source Attribution 필수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00400"/>
            <a:ext cx="2377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AAB7B8"/>
                </a:solidFill>
              </a:rPr>
              <a:t>Verify → Guardrail → Validate →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280160"/>
            <a:ext cx="265176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26517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</a:rPr>
              <a:t>Context Synthesizer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833"/>
                </a:solidFill>
              </a:rPr>
              <a:t>내부/외부 데이터 통합
유사 케이스 검색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200400"/>
            <a:ext cx="2377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AAB7B8"/>
                </a:solidFill>
              </a:rPr>
              <a:t>pgvector HNSW 2000d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265176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33737"/>
                </a:solidFill>
              </a:rPr>
              <a:t>95%+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Detection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4114800"/>
            <a:ext cx="265176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33737"/>
                </a:solidFill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Zero-Failure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114800"/>
            <a:ext cx="265176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33737"/>
                </a:solidFill>
              </a:rPr>
              <a:t>22.7s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Pipeline Execution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114800"/>
            <a:ext cx="265176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33737"/>
                </a:solidFill>
              </a:rPr>
              <a:t>7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Profile Cache TTL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3737"/>
                </a:solidFill>
              </a:rPr>
              <a:t>3-Layer Architecture + Multi-Agent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20040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React 18 + TypeScript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004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Business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FastAPI + SQLAlchemy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2004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7B8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651760"/>
            <a:ext cx="4114800" cy="822960"/>
          </a:xfrm>
          <a:prstGeom prst="round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Pipeline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Celery 9-Stage + Redis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4114800" cy="8229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 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Claude Opus 4.5 | GPT-5 | Gemini 3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7B8"/>
                </a:solidFill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32004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Web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Perplexity sonar-pro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023360"/>
            <a:ext cx="320040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text-embedding-3-large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023360"/>
            <a:ext cx="320040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pgvector HNSW 2000d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29200"/>
            <a:ext cx="2651760" cy="6400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Frontend: Vercel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rkyc-wine.vercel.app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5029200"/>
            <a:ext cx="2651760" cy="6400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Backend: Railway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349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rkyc-production.up.railway.app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029200"/>
            <a:ext cx="2651760" cy="6400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Database: Supabase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349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Tokyo (ap-northeast-1)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5029200"/>
            <a:ext cx="2651760" cy="64008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Worker: Railway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349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Celery +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Multi-Model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3737"/>
                </a:solidFill>
              </a:rPr>
              <a:t>3-Tier LLM Fallback Chain for High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FALLBACK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FALLBACK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00400" cy="1371600"/>
          </a:xfrm>
          <a:prstGeom prst="round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Claude Opus 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claude-opus-4-5-20251101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200K context | Complex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004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GPT-5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gpt-5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128K context | Structured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20040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Gemini 3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gemini-3-pro-preview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1M context | Cross-validation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11247120" cy="18288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</a:rPr>
              <a:t>Fallback Trigger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40480"/>
            <a:ext cx="45720" cy="9144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833"/>
                </a:solidFill>
              </a:rPr>
              <a:t>API Timeout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30초 초과 시 다음 모델로 전환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84048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840480"/>
            <a:ext cx="45720" cy="9144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833"/>
                </a:solidFill>
              </a:rPr>
              <a:t>Rate 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429 에러 발생 시 자동 전환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840480"/>
            <a:ext cx="45720" cy="9144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833"/>
                </a:solidFill>
              </a:rPr>
              <a:t>Invalid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JSON 파싱 실패 시 재시도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84048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3840480"/>
            <a:ext cx="45720" cy="9144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833"/>
                </a:solidFill>
              </a:rPr>
              <a:t>Circuit Breaker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연속 3회 실패 시 5분 cooldown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Multi-Agent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4-Layer Fallback System for Zero-Failure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9144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Intelligent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7-day TTL, Profile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188720"/>
            <a:ext cx="530352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Perplexity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916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sonar-pro, Citation with URLs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1488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7B8"/>
                </a:solidFill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303520" cy="9144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265176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51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Gemini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Cross-check, Enrich missing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468880"/>
            <a:ext cx="530352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788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Consensus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Jaccard Similarity &gt;= 0.7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3429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7B8"/>
                </a:solidFill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49040"/>
            <a:ext cx="5303520" cy="914400"/>
          </a:xfrm>
          <a:prstGeom prst="roundRect">
            <a:avLst/>
          </a:prstGeom>
          <a:solidFill>
            <a:srgbClr val="F5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" y="393192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Rule-Based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251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Source priority, Range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749040"/>
            <a:ext cx="5303520" cy="9144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72200" y="393192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Graceful Degradation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51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Minimal profile, _degraded flag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120640"/>
            <a:ext cx="2286000" cy="914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737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7B8"/>
                </a:solidFill>
              </a:rPr>
              <a:t>Zero-Failure 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120640"/>
            <a:ext cx="2286000" cy="914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737"/>
                </a:solidFill>
              </a:rPr>
              <a:t>7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7B8"/>
                </a:solidFill>
              </a:rPr>
              <a:t>Cache TTL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120640"/>
            <a:ext cx="2286000" cy="914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737"/>
                </a:solidFill>
              </a:rPr>
              <a:t>1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7B8"/>
                </a:solidFill>
              </a:rPr>
              <a:t>Fallback TTL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5120640"/>
            <a:ext cx="2286000" cy="914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737"/>
                </a:solidFill>
              </a:rPr>
              <a:t>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7B8"/>
                </a:solidFill>
              </a:rPr>
              <a:t>Profile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Anti-Hallucination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4-Layer Fact Verification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85800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Source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Domain Credibility Scorer (T1: 공시/IR → T4: 블로그)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6858000" cy="9144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Extraction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"Return null if uncertain" Policy, Schema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685800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Gemini Validator, Jaccard Similarity &gt;= 0.7, Discrepancy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6858000" cy="914400"/>
          </a:xfrm>
          <a:prstGeom prst="roundRect">
            <a:avLst/>
          </a:prstGeom>
          <a:solidFill>
            <a:srgbClr val="F5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833"/>
                </a:solidFill>
              </a:rPr>
              <a:t>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833"/>
                </a:solidFill>
              </a:rPr>
              <a:t>field_provenance JSON, LLM Audit Log, Trace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188720"/>
            <a:ext cx="4114800" cy="48463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3737"/>
                </a:solidFill>
              </a:rPr>
              <a:t>Provenance Tracking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828800"/>
            <a:ext cx="3749039" cy="5943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source_url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488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출처 URL (필수)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560320"/>
            <a:ext cx="3749039" cy="5943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651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excerpt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880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원문 발췌 (50자 이내)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291840"/>
            <a:ext cx="3749039" cy="5943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611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HIGH / MED / 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023360"/>
            <a:ext cx="3749039" cy="5943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retrieved_at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3434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검색 시점 타임스탬프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Confidence Level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212080"/>
            <a:ext cx="100584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5212080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5212080"/>
            <a:ext cx="1005840" cy="365760"/>
          </a:xfrm>
          <a:prstGeom prst="round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공시/IR &gt; 뉴스 &gt; 추정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9-Stage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3737"/>
                </a:solidFill>
              </a:rPr>
              <a:t>Automated Risk Signal Detection | ~22.7s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Internal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PDF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188720"/>
            <a:ext cx="1097280" cy="12801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188720"/>
            <a:ext cx="2743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</a:rPr>
              <a:t>3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Multi-Agent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4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4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Perplexity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LLM Extract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1188720"/>
            <a:ext cx="1097280" cy="12801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1188720"/>
            <a:ext cx="2743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</a:rPr>
              <a:t>7 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VALIDATE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Anti-Hallu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1540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INDEX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Vector 2000d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16459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1188720"/>
            <a:ext cx="1097280" cy="12801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49840" y="1188720"/>
            <a:ext cx="27432" cy="128016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1280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3737"/>
                </a:solidFill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2833"/>
                </a:solidFill>
              </a:rPr>
              <a:t>INSIGHT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B7B8"/>
                </a:solidFill>
              </a:rPr>
              <a:t>Briefing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2743200"/>
            <a:ext cx="3657600" cy="20116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LLM Ensemble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32461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Claude Opus 4.5 (Primary)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37033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GPT-5 (Fallback 1)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41605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Gemini 3 Pro (Fallback 2)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97680" y="2743200"/>
            <a:ext cx="3657600" cy="20116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Resilience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34840" y="32461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Circuit Breaker (3 fail / 5min)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37033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Rate Limiter (10/min)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4840" y="41605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Auto Recovery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60" y="2743200"/>
            <a:ext cx="3657600" cy="20116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Vector Search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75320" y="32461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pgvector HNSW 2000d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75320" y="37033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Cosine Similarity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75320" y="4160520"/>
            <a:ext cx="3383280" cy="3657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Case-Based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&amp; Vector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PostgreSQL + pgvector | Semantic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Core Master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corp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41732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industry_master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Signal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28600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rkyc_signal_index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28600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28600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rkyc_signal_embedding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Profile &amp;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rkyc_corp_profile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56616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rkyc_internal_snapshot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56616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rkyc_unified_context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Document &amp; External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43484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rkyc_fact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443484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rkyc_external_news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3737"/>
                </a:solidFill>
              </a:rPr>
              <a:t>Audit &amp; Jobs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rkyc_llm_audit_log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530352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rkyc_job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303520"/>
            <a:ext cx="1645920" cy="36576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C2833"/>
                </a:solidFill>
              </a:rPr>
              <a:t>rkyc_case_index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097280"/>
            <a:ext cx="4114800" cy="48463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Vector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737360"/>
            <a:ext cx="3749039" cy="73152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Embedding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03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7B8"/>
                </a:solidFill>
              </a:rPr>
              <a:t>text-embedding-3-large (2000d)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651760"/>
            <a:ext cx="3749039" cy="73152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Index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7B8"/>
                </a:solidFill>
              </a:rPr>
              <a:t>HNSW (m=16, ef_construction=64)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566160"/>
            <a:ext cx="3749039" cy="73152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931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7B8"/>
                </a:solidFill>
              </a:rPr>
              <a:t>Cosine Distance (vector &lt;=&gt; vector)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Key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Signal Embedding (rkyc_signal_embedding)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Case-Based Reasoning (rkyc_case_index)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Semantic Search for Similar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B8"/>
                </a:solidFill>
              </a:rPr>
              <a:t>Provenance JSON Pointer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3737"/>
                </a:solidFill>
              </a:rPr>
              <a:t>rKYC AI Engine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Multi-Agent Orchestration | Anti-Hallucination | 9-Stage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657600"/>
            <a:ext cx="3657600" cy="8229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9647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9647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rkyc-wine.vercel.app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3657600"/>
            <a:ext cx="3657600" cy="82296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API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rkyc-production.up.railway.app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33737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Corporations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327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33737"/>
                </a:solidFill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8327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33737"/>
                </a:solidFill>
              </a:rPr>
              <a:t>22.7s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4567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33737"/>
                </a:solidFill>
              </a:rPr>
              <a:t>95%+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7687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33737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7687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7B8"/>
                </a:solidFill>
              </a:rPr>
              <a:t>Zero-Failure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