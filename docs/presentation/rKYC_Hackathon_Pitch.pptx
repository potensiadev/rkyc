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rKYC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B82F6"/>
                </a:solidFill>
              </a:defRPr>
            </a:pPr>
            <a:r>
              <a:t>AI-Powered Corporate Risk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Problem: 금융기관 기업 리스크 감지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9CA3AF"/>
                </a:solidFill>
              </a:defRPr>
            </a:pPr>
            <a:r>
              <a:t>  외부 정보 수집에 기업당 2시간 소요</a:t>
            </a:r>
          </a:p>
          <a:p>
            <a:pPr>
              <a:spcBef>
                <a:spcPts val="1200"/>
              </a:spcBef>
              <a:defRPr sz="2200">
                <a:solidFill>
                  <a:srgbClr val="9CA3AF"/>
                </a:solidFill>
              </a:defRPr>
            </a:pPr>
            <a:r>
              <a:t>  뉴스/공시/규제 변화 모니터링이 100% 수작업</a:t>
            </a:r>
          </a:p>
          <a:p>
            <a:pPr>
              <a:spcBef>
                <a:spcPts val="1200"/>
              </a:spcBef>
              <a:defRPr sz="2200">
                <a:solidFill>
                  <a:srgbClr val="9CA3AF"/>
                </a:solidFill>
              </a:defRPr>
            </a:pPr>
            <a:r>
              <a:t>  KYC 갱신 시점 판단이 담당자 경험에 의존</a:t>
            </a:r>
          </a:p>
          <a:p>
            <a:pPr>
              <a:spcBef>
                <a:spcPts val="1200"/>
              </a:spcBef>
              <a:defRPr sz="2200">
                <a:solidFill>
                  <a:srgbClr val="9CA3AF"/>
                </a:solidFill>
              </a:defRPr>
            </a:pPr>
            <a:r>
              <a:t>  리스크만 집중하다가 기회 시그널 놓침</a:t>
            </a:r>
          </a:p>
          <a:p>
            <a:pPr>
              <a:spcBef>
                <a:spcPts val="1200"/>
              </a:spcBef>
              <a:defRPr sz="2200">
                <a:solidFill>
                  <a:srgbClr val="9CA3AF"/>
                </a:solidFill>
              </a:defRPr>
            </a:pPr>
            <a:r>
              <a:t>  </a:t>
            </a:r>
          </a:p>
          <a:p>
            <a:pPr>
              <a:spcBef>
                <a:spcPts val="1200"/>
              </a:spcBef>
              <a:defRPr sz="2200">
                <a:solidFill>
                  <a:srgbClr val="3B82F6"/>
                </a:solidFill>
              </a:defRPr>
            </a:pPr>
            <a:r>
              <a:t>  💰 심사역 100명 × 월 10건 × 2시간 = 월 2,000시간 낭비</a:t>
            </a:r>
          </a:p>
          <a:p>
            <a:pPr>
              <a:spcBef>
                <a:spcPts val="1200"/>
              </a:spcBef>
              <a:defRPr sz="2200">
                <a:solidFill>
                  <a:srgbClr val="3B82F6"/>
                </a:solidFill>
              </a:defRPr>
            </a:pPr>
            <a:r>
              <a:t>  📊 조기 감지 시 회수율 30-50% 향상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Solution: rKYC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9CA3AF"/>
                </a:solidFill>
              </a:defRPr>
            </a:pPr>
            <a:r>
              <a:t>  Multi-Agent AI 기반 실시간 리스크 감지</a:t>
            </a:r>
          </a:p>
          <a:p>
            <a:pPr>
              <a:spcBef>
                <a:spcPts val="1200"/>
              </a:spcBef>
              <a:defRPr sz="2200">
                <a:solidFill>
                  <a:srgbClr val="9CA3AF"/>
                </a:solidFill>
              </a:defRPr>
            </a:pPr>
            <a:r>
              <a:t>  </a:t>
            </a:r>
          </a:p>
          <a:p>
            <a:pPr>
              <a:spcBef>
                <a:spcPts val="1200"/>
              </a:spcBef>
              <a:defRPr sz="2200">
                <a:solidFill>
                  <a:srgbClr val="3B82F6"/>
                </a:solidFill>
              </a:defRPr>
            </a:pPr>
            <a:r>
              <a:t>  4개 AI 에이전트 협업 (Perplexity + Gemini + Claude + OpenAI)</a:t>
            </a:r>
          </a:p>
          <a:p>
            <a:pPr>
              <a:spcBef>
                <a:spcPts val="1200"/>
              </a:spcBef>
              <a:defRPr sz="2200">
                <a:solidFill>
                  <a:srgbClr val="3B82F6"/>
                </a:solidFill>
              </a:defRPr>
            </a:pPr>
            <a:r>
              <a:t>  4-Layer Fallback으로 100% 가용성 보장</a:t>
            </a:r>
          </a:p>
          <a:p>
            <a:pPr>
              <a:spcBef>
                <a:spcPts val="1200"/>
              </a:spcBef>
              <a:defRPr sz="2200">
                <a:solidFill>
                  <a:srgbClr val="3B82F6"/>
                </a:solidFill>
              </a:defRPr>
            </a:pPr>
            <a:r>
              <a:t>  Anti-Hallucination 4중 방어로 신뢰성 확보</a:t>
            </a:r>
          </a:p>
          <a:p>
            <a:pPr>
              <a:spcBef>
                <a:spcPts val="1200"/>
              </a:spcBef>
              <a:defRPr sz="2200">
                <a:solidFill>
                  <a:srgbClr val="3B82F6"/>
                </a:solidFill>
              </a:defRPr>
            </a:pPr>
            <a:r>
              <a:t>  Production-Grade 엔지니어링 (Circuit Breaker, Redis)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Full System Architecture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822960"/>
            <a:ext cx="548640" cy="54864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4173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User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914400" y="960120"/>
            <a:ext cx="365760" cy="27432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731520"/>
            <a:ext cx="164592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Frontend</a:t>
            </a:r>
            <a:br/>
            <a:r>
              <a:t>React + Vercel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08960" y="960120"/>
            <a:ext cx="365760" cy="27432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731520"/>
            <a:ext cx="164592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Backend API</a:t>
            </a:r>
            <a:br/>
            <a:r>
              <a:t>FastAPI + Railway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03520" y="960120"/>
            <a:ext cx="365760" cy="27432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720" y="731520"/>
            <a:ext cx="109728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Redis</a:t>
            </a:r>
            <a:br/>
            <a:r>
              <a:t>Queue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49440" y="960120"/>
            <a:ext cx="365760" cy="27432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731520"/>
            <a:ext cx="146304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Worker</a:t>
            </a:r>
            <a:br/>
            <a:r>
              <a:t>Celery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828800"/>
            <a:ext cx="1828800" cy="73152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Supabase PostgreSQL</a:t>
            </a:r>
            <a:br/>
            <a:r>
              <a:t>+ pgvector</a:t>
            </a:r>
          </a:p>
        </p:txBody>
      </p:sp>
      <p:sp>
        <p:nvSpPr>
          <p:cNvPr id="14" name="Up-Down Arrow 13"/>
          <p:cNvSpPr/>
          <p:nvPr/>
        </p:nvSpPr>
        <p:spPr>
          <a:xfrm>
            <a:off x="4251960" y="1600200"/>
            <a:ext cx="228600" cy="228600"/>
          </a:xfrm>
          <a:prstGeom prst="upDownArrow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" y="2743200"/>
            <a:ext cx="8595360" cy="3200400"/>
          </a:xfrm>
          <a:prstGeom prst="roundRect">
            <a:avLst/>
          </a:prstGeom>
          <a:solidFill>
            <a:srgbClr val="192134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Multi-Agent LLM Layer (Worker Only)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200400"/>
            <a:ext cx="2743200" cy="640080"/>
          </a:xfrm>
          <a:prstGeom prst="round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MultiAgentOrchestrator</a:t>
            </a:r>
            <a:br/>
            <a:r>
              <a:t>(4-Layer Fallback)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18288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Perplexity</a:t>
            </a:r>
            <a:br/>
            <a:r>
              <a:t>sonar-pro</a:t>
            </a:r>
            <a:br/>
            <a:r>
              <a:t>(실시간 검색)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4114800"/>
            <a:ext cx="182880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Gemini 3 Pro</a:t>
            </a:r>
            <a:br/>
            <a:r>
              <a:t>(검증/보완)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4114800"/>
            <a:ext cx="18288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Claude Opus</a:t>
            </a:r>
            <a:br/>
            <a:r>
              <a:t>(합성/분석)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114800"/>
            <a:ext cx="1828800" cy="91440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OpenAI</a:t>
            </a:r>
            <a:br/>
            <a:r>
              <a:t>Embedding</a:t>
            </a:r>
            <a:br/>
            <a:r>
              <a:t>(벡터화)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12080"/>
            <a:ext cx="256032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Circuit Breaker (장애 격리)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5212080"/>
            <a:ext cx="2743200" cy="54864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Consensus Engine (합의 도출)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5212080"/>
            <a:ext cx="256032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Profile Cache (7일 TTL)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182880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핵심 설계 원칙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• LLM 키는 Worker에만 존재 (보안)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• 비동기 처리 (Celery Queue)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• 모든 AI 호출은 Orchestrator 경유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2860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</a:t>
            </a:r>
            <a:br/>
            <a:r>
              <a:t>(React/Vercel)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228600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</a:t>
            </a:r>
            <a:br/>
            <a:r>
              <a:t>(FastAPI/Railway)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22860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Worker</a:t>
            </a:r>
            <a:br/>
            <a:r>
              <a:t>(Celery/Redis)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743200"/>
            <a:ext cx="2286000" cy="91440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Supabase</a:t>
            </a:r>
            <a:br/>
            <a:r>
              <a:t>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743200"/>
            <a:ext cx="2286000" cy="914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LLM APIs</a:t>
            </a:r>
            <a:br/>
            <a:r>
              <a:t>(4 Models)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9CA3AF"/>
                </a:solidFill>
              </a:defRPr>
            </a:pPr>
            <a:r>
              <a:t>• Frontend: API 호출만 (LLM 직접 호출 X)</a:t>
            </a:r>
          </a:p>
          <a:p>
            <a:pPr>
              <a:spcBef>
                <a:spcPts val="800"/>
              </a:spcBef>
              <a:defRPr sz="1800">
                <a:solidFill>
                  <a:srgbClr val="9CA3AF"/>
                </a:solidFill>
              </a:defRPr>
            </a:pPr>
            <a:r>
              <a:t>• Backend: DB CRUD만 (LLM 직접 호출 X)</a:t>
            </a:r>
          </a:p>
          <a:p>
            <a:pPr>
              <a:spcBef>
                <a:spcPts val="800"/>
              </a:spcBef>
              <a:defRPr sz="1800">
                <a:solidFill>
                  <a:srgbClr val="9CA3AF"/>
                </a:solidFill>
              </a:defRPr>
            </a:pPr>
            <a:r>
              <a:t>• Worker: 모든 LLM 호출 담당 (보안)</a:t>
            </a:r>
          </a:p>
          <a:p>
            <a:pPr>
              <a:spcBef>
                <a:spcPts val="800"/>
              </a:spcBef>
              <a:defRPr sz="1800">
                <a:solidFill>
                  <a:srgbClr val="9CA3AF"/>
                </a:solidFill>
              </a:defRPr>
            </a:pPr>
            <a:r>
              <a:t>• 핵심: LLM 키 격리로 보안 강화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Multi-Agent Consensus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Perplexity</a:t>
            </a:r>
            <a:br/>
            <a:r>
              <a:t>Layer 1: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371600"/>
            <a:ext cx="2560320" cy="10972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Gemini</a:t>
            </a:r>
            <a:br/>
            <a:r>
              <a:t>Layer 1.5: Validate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10972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Claude Opus</a:t>
            </a:r>
            <a:br/>
            <a:r>
              <a:t>Layer 2: Synthesize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926080"/>
            <a:ext cx="5486400" cy="137160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Consensus Engine</a:t>
            </a:r>
            <a:br/>
            <a:r>
              <a:t>Hybrid Similarity (Embedding + Jaccard)</a:t>
            </a:r>
            <a:br/>
            <a:r>
              <a:t>한국어 형태소 분석 (kiwipiepy)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9CA3AF"/>
                </a:solidFill>
              </a:defRPr>
            </a:pPr>
            <a:r>
              <a:t>• 일치 (유사도 &gt;= 70%): Perplexity 값 채택, HIGH 신뢰도</a:t>
            </a:r>
          </a:p>
          <a:p>
            <a:pPr>
              <a:spcBef>
                <a:spcPts val="800"/>
              </a:spcBef>
              <a:defRPr sz="1800">
                <a:solidFill>
                  <a:srgbClr val="9CA3AF"/>
                </a:solidFill>
              </a:defRPr>
            </a:pPr>
            <a:r>
              <a:t>• 불일치: Perplexity 값 채택 + discrepancy 플래그 표시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rKYC Multi-Agent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640080"/>
            <a:ext cx="457200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run_analysis_pipeline</a:t>
            </a:r>
            <a:br/>
            <a:r>
              <a:t>(Celery Worker 진입점)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26280" y="1280160"/>
            <a:ext cx="25400" cy="2743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1554480"/>
            <a:ext cx="4572000" cy="640080"/>
          </a:xfrm>
          <a:prstGeom prst="rect">
            <a:avLst/>
          </a:prstGeom>
          <a:solidFill>
            <a:srgbClr val="1F293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MultiAgentOrchestrator</a:t>
            </a:r>
            <a:br/>
            <a:r>
              <a:t>(4-Layer Fallback 조율)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2194560"/>
            <a:ext cx="25400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423160"/>
            <a:ext cx="6949440" cy="254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423160"/>
            <a:ext cx="25400" cy="1828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23160"/>
            <a:ext cx="25400" cy="1828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2423160"/>
            <a:ext cx="25400" cy="1828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2423160"/>
            <a:ext cx="25400" cy="1828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1920240" cy="640080"/>
          </a:xfrm>
          <a:prstGeom prst="rect">
            <a:avLst/>
          </a:prstGeom>
          <a:solidFill>
            <a:srgbClr val="1F293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B82F6"/>
                </a:solidFill>
              </a:defRPr>
            </a:pPr>
            <a:r>
              <a:t>PerplexityAgent</a:t>
            </a:r>
            <a:br/>
            <a:r>
              <a:t>(4 sub-agents)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2606040"/>
            <a:ext cx="1920240" cy="640080"/>
          </a:xfrm>
          <a:prstGeom prst="rect">
            <a:avLst/>
          </a:prstGeom>
          <a:solidFill>
            <a:srgbClr val="1F293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GeminiAgent</a:t>
            </a:r>
            <a:br/>
            <a:r>
              <a:t>(2 sub-agents)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606040"/>
            <a:ext cx="1920240" cy="640080"/>
          </a:xfrm>
          <a:prstGeom prst="rect">
            <a:avLst/>
          </a:prstGeom>
          <a:solidFill>
            <a:srgbClr val="1F293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2C55E"/>
                </a:solidFill>
              </a:defRPr>
            </a:pPr>
            <a:r>
              <a:t>ClaudeAgent</a:t>
            </a:r>
            <a:br/>
            <a:r>
              <a:t>(3 sub-agents)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606040"/>
            <a:ext cx="1920240" cy="640080"/>
          </a:xfrm>
          <a:prstGeom prst="rect">
            <a:avLst/>
          </a:prstGeom>
          <a:solidFill>
            <a:srgbClr val="1F2937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ACC15"/>
                </a:solidFill>
              </a:defRPr>
            </a:pPr>
            <a:r>
              <a:t>EmbeddingAgent</a:t>
            </a:r>
            <a:br/>
            <a:r>
              <a:t>(2 sub-agents)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3246120"/>
            <a:ext cx="25400" cy="1828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3246120"/>
            <a:ext cx="25400" cy="1828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0" y="3246120"/>
            <a:ext cx="25400" cy="1828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3246120"/>
            <a:ext cx="25400" cy="1828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429000"/>
            <a:ext cx="19202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9CA3AF"/>
                </a:solidFill>
              </a:defRPr>
            </a:pPr>
            <a:r>
              <a:t>CorpSearchAgent</a:t>
            </a:r>
            <a:br/>
            <a:r>
              <a:t>NewsSearchAgent</a:t>
            </a:r>
            <a:br/>
            <a:r>
              <a:t>IndustrySearchAgent</a:t>
            </a:r>
            <a:br/>
            <a:r>
              <a:t>PolicySearchAgent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3429000"/>
            <a:ext cx="19202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9CA3AF"/>
                </a:solidFill>
              </a:defRPr>
            </a:pPr>
            <a:r>
              <a:t>ValidatorAgent</a:t>
            </a:r>
            <a:br/>
            <a:r>
              <a:t>EnricherAgent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429000"/>
            <a:ext cx="19202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9CA3AF"/>
                </a:solidFill>
              </a:defRPr>
            </a:pPr>
            <a:r>
              <a:t>SynthesizerAgent</a:t>
            </a:r>
            <a:br/>
            <a:r>
              <a:t>SignalExtractor</a:t>
            </a:r>
            <a:br/>
            <a:r>
              <a:t>InsightGenerator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429000"/>
            <a:ext cx="192024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9CA3AF"/>
                </a:solidFill>
              </a:defRPr>
            </a:pPr>
            <a:r>
              <a:t>TextEmbedder</a:t>
            </a:r>
            <a:br/>
            <a:r>
              <a:t>SimilaritySearcher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526280"/>
            <a:ext cx="6949440" cy="254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88720" y="4434840"/>
            <a:ext cx="25400" cy="914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4434840"/>
            <a:ext cx="25400" cy="914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0" y="4434840"/>
            <a:ext cx="25400" cy="914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0920" y="4434840"/>
            <a:ext cx="25400" cy="914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26280" y="4526280"/>
            <a:ext cx="25400" cy="1828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709160"/>
            <a:ext cx="7680960" cy="1097280"/>
          </a:xfrm>
          <a:prstGeom prst="rect">
            <a:avLst/>
          </a:prstGeom>
          <a:solidFill>
            <a:srgbClr val="1F293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9-Stage Analysis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74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SNAPSHOT → DOC_INGEST → PROFILING → EXTERNAL →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CONTEXT → SIGNAL → VALIDATION → INDEX → INSIGHT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897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Total: 11 specialized agents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4-Layer Fallback: Never Fail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7772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Layer 0: Cache  |  7일 TTL, 기존 프로필 재사용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8229600" cy="7772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Layer 1+1.5: Perplexity + Gemini  |  실시간 검색 + 교차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8229600" cy="7772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Layer 2: Claude Synthesis  |  Consensus Engine 합성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8229600" cy="77724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t>Layer 3: Rule-Based Merge  |  LLM 없이 규칙 기반 병합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8229600" cy="7772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Layer 4: Graceful Degradation  |  최소 프로필 + 경고 플래그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Anti-Hallucination: 4-Layer Defense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 Source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188720"/>
            <a:ext cx="4389120" cy="6400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Perplexity Citation 검증, 도메인 신뢰도 분류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36576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2. Extraction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194560"/>
            <a:ext cx="4389120" cy="6400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LLM 프롬프트: "모르면 null 반환" 규칙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36576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3. Validation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200400"/>
            <a:ext cx="4389120" cy="6400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Gemini 교차 검증, 범위/일관성 체크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36576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4. Audit Trail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206240"/>
            <a:ext cx="4389120" cy="6400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필드별 source_url, excerpt, confidence 추적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Result: 모든 시그널에 Evidence(출처) 필수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9-Stage Analysis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9144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9" y="2377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371600"/>
            <a:ext cx="9144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377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DOC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371600"/>
            <a:ext cx="91440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377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371600"/>
            <a:ext cx="914400" cy="91440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11827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77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ACC15"/>
                </a:solidFill>
              </a:defRPr>
            </a:pPr>
            <a:r>
              <a:t>EXTERNAL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371600"/>
            <a:ext cx="914400" cy="914400"/>
          </a:xfrm>
          <a:prstGeom prst="round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11827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77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371600"/>
            <a:ext cx="914400" cy="914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377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SIGNAL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371600"/>
            <a:ext cx="9144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77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59" y="1371600"/>
            <a:ext cx="9144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377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INDEX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371600"/>
            <a:ext cx="91440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377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AI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역할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DOC_INGEST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566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Claude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566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PDF/이미지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31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PROFILING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931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Perplexity+Gemini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931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기업 프로필 수집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976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EXTERNAL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2976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Perplexity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2976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뉴스/이벤트 검색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634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6634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Claude Opus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6634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시그널 추출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29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029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Claude Opus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029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CA3AF"/>
                </a:solidFill>
              </a:defRPr>
            </a:pPr>
            <a:r>
              <a:t>인사이트 생성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Circuit Breaker Pattern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286000" cy="13716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CLOSED</a:t>
            </a:r>
            <a:br/>
            <a:br/>
            <a:r>
              <a:t>정상 동작</a:t>
            </a:r>
            <a:br/>
            <a:r>
              <a:t>모든 요청 허용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2286000" cy="13716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OPEN</a:t>
            </a:r>
            <a:br/>
            <a:br/>
            <a:r>
              <a:t>차단됨</a:t>
            </a:r>
            <a:br/>
            <a:r>
              <a:t>5분 대기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2286000" cy="137160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1827"/>
                </a:solidFill>
              </a:defRPr>
            </a:pPr>
            <a:r>
              <a:t>HALF_OPEN</a:t>
            </a:r>
            <a:br/>
            <a:br/>
            <a:r>
              <a:t>테스트 중</a:t>
            </a:r>
            <a:br/>
            <a:r>
              <a:t>1개 요청만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200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200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Cooldown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6118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Perplexity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6118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3회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6118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5분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0233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0233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3회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0233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5분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4348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348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2회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4348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10분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B82F6"/>
                </a:solidFill>
              </a:defRPr>
            </a:pPr>
            <a:r>
              <a:t>Redis 영속화: Worker 재시작 시에도 상태 유지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82880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09728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9CA3AF"/>
                </a:solidFill>
              </a:defRPr>
            </a:pPr>
            <a:r>
              <a:t>React 18, TypeScript, TanStack Query, shadcn/ui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828800" cy="5943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9CA3AF"/>
                </a:solidFill>
              </a:defRPr>
            </a:pPr>
            <a:r>
              <a:t>FastAPI, SQLAlchemy 2.0, Pydantic 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182880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Worker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56032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9CA3AF"/>
                </a:solidFill>
              </a:defRPr>
            </a:pPr>
            <a:r>
              <a:t>Celery, Redis, litellm (Multi-provider)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39"/>
            <a:ext cx="1828800" cy="59436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291839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9CA3AF"/>
                </a:solidFill>
              </a:defRPr>
            </a:pPr>
            <a:r>
              <a:t>Supabase PostgreSQL, pgvector (HNSW)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59"/>
            <a:ext cx="182880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023359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9CA3AF"/>
                </a:solidFill>
              </a:defRPr>
            </a:pPr>
            <a:r>
              <a:t>Claude Opus, GPT-5.2 Pro, Gemini 3 Pro, Perplexity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79"/>
            <a:ext cx="1828800" cy="594360"/>
          </a:xfrm>
          <a:prstGeom prst="round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754879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9CA3AF"/>
                </a:solidFill>
              </a:defRPr>
            </a:pPr>
            <a:r>
              <a:t>Vercel (Frontend), Railway (Backend/Worker)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Business Impact &amp; ROI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8229600" cy="109728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💰 시간 절감 계산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심사역 100명 × 월 10건 × 2시간 절감 = 월 2,000시간 = 연간 24,000시간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1031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286000"/>
            <a:ext cx="21031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286000"/>
            <a:ext cx="21031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After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286000"/>
            <a:ext cx="21031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효과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210312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외부정보 수집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43200"/>
            <a:ext cx="210312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기업당 2시간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743200"/>
            <a:ext cx="210312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10분 (자동)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743200"/>
            <a:ext cx="210312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B82F6"/>
                </a:solidFill>
              </a:defRPr>
            </a:pPr>
            <a:r>
              <a:t>92% 절감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210312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리스크 모니터링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200400"/>
            <a:ext cx="210312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수동/주기적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200400"/>
            <a:ext cx="210312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실시간 알림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200400"/>
            <a:ext cx="210312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B82F6"/>
                </a:solidFill>
              </a:defRPr>
            </a:pPr>
            <a:r>
              <a:t>24/7 상시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210312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KYC 갱신 판단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657600"/>
            <a:ext cx="210312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담당자 경험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657600"/>
            <a:ext cx="210312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시그널 트리거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657600"/>
            <a:ext cx="210312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B82F6"/>
                </a:solidFill>
              </a:defRPr>
            </a:pPr>
            <a:r>
              <a:t>표준화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2C55E"/>
                </a:solidFill>
              </a:defRPr>
            </a:pPr>
            <a:r>
              <a:t>✓ 담당자 업무 부담 감소 → 전략적 업무에 집중</a:t>
            </a:r>
          </a:p>
          <a:p>
            <a:pPr>
              <a:spcBef>
                <a:spcPts val="600"/>
              </a:spcBef>
              <a:defRPr sz="1600">
                <a:solidFill>
                  <a:srgbClr val="22C55E"/>
                </a:solidFill>
              </a:defRPr>
            </a:pPr>
            <a:r>
              <a:t>✓ 일관된 분석 품질 → 담당자별 편차 해소</a:t>
            </a:r>
          </a:p>
          <a:p>
            <a:pPr>
              <a:spcBef>
                <a:spcPts val="600"/>
              </a:spcBef>
              <a:defRPr sz="1600">
                <a:solidFill>
                  <a:srgbClr val="22C55E"/>
                </a:solidFill>
              </a:defRPr>
            </a:pPr>
            <a:r>
              <a:t>✓ 기회 시그널도 포착 → 리스크만이 아닌 균형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vs 일반적인 해커톤 제출작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 일반적인 해커톤 제출작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✅ rKYC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931920" cy="5029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"GPT에게 물어보기" 챗봇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691640"/>
            <a:ext cx="3931920" cy="5029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9-stage 구조화된 파이프라인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3931920" cy="5029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단일 LLM 의존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286000"/>
            <a:ext cx="3931920" cy="5029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Multi-Agent + 4-Layer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3931920" cy="5029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프로토타입 수준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880360"/>
            <a:ext cx="3931920" cy="5029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실제 배포된 서비스 (Vercel+Railway)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3931920" cy="5029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아이디어 발표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474720"/>
            <a:ext cx="3931920" cy="5029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작동하는 데모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69080"/>
            <a:ext cx="3931920" cy="5029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LLM 호출 = 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4069080"/>
            <a:ext cx="3931920" cy="5029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Anti-Hallucination 4중 방어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3931920" cy="5029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장애 시 서비스 중단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4663440"/>
            <a:ext cx="3931920" cy="5029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Circuit Breaker로 무중단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394960"/>
            <a:ext cx="54864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💡 해커톤에서 이 정도 완성도는 상위 5%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기존 인프라와의 연계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10972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여신시스템</a:t>
            </a:r>
            <a:br/>
            <a:br/>
            <a:r>
              <a:t>고객번호, 여신잔액</a:t>
            </a:r>
            <a:br/>
            <a:r>
              <a:t>담보정보, 내부등급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468880"/>
            <a:ext cx="2286000" cy="10972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KYC시스템</a:t>
            </a:r>
            <a:br/>
            <a:br/>
            <a:r>
              <a:t>사업자등록증, 등기부</a:t>
            </a:r>
            <a:br/>
            <a:r>
              <a:t>재무제표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1463040"/>
            <a:ext cx="731520" cy="36576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2926080" y="2834640"/>
            <a:ext cx="731520" cy="36576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0" y="1280160"/>
            <a:ext cx="2011680" cy="7315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B82F6"/>
                </a:solidFill>
              </a:defRPr>
            </a:pPr>
            <a:r>
              <a:t>Snapshot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651760"/>
            <a:ext cx="2011680" cy="7315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8B5CF6"/>
                </a:solidFill>
              </a:defRPr>
            </a:pPr>
            <a:r>
              <a:t>Document API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35040" y="1463040"/>
            <a:ext cx="548640" cy="36576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035040" y="2834640"/>
            <a:ext cx="548640" cy="36576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1188720"/>
            <a:ext cx="2103120" cy="25603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rKYC</a:t>
            </a:r>
            <a:br/>
            <a:r>
              <a:t>Platform</a:t>
            </a:r>
            <a:br/>
            <a:br/>
            <a:r>
              <a:t>9-Stage</a:t>
            </a:r>
            <a:br/>
            <a:r>
              <a:t>Pipeline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7635240" y="3931920"/>
            <a:ext cx="457200" cy="54864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4572000"/>
            <a:ext cx="3840480" cy="118872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기업심사 워크플로우</a:t>
            </a:r>
            <a:br/>
            <a:br/>
            <a:r>
              <a:t>"이 기업 외부 리스크 시그널 3건 감지"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💡 기존 인프라 활용 설계가 되어 있음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금융 규제 준수 설계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931920" cy="256032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✅ 현재 구현된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657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Internal/External LLM 분리 아키텍처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├ 내부 데이터 → Internal LLM만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└ 외부 공개 정보 → External LLM</a:t>
            </a:r>
          </a:p>
          <a:p>
            <a:pPr>
              <a:defRPr sz="1100">
                <a:solidFill>
                  <a:srgbClr val="FFFFFF"/>
                </a:solidFill>
              </a:defRPr>
            </a:pP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LLM Audit Log 테이블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├ 모든 LLM 호출 기록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└ 입력/출력/모델/시간 추적</a:t>
            </a:r>
          </a:p>
          <a:p>
            <a:pPr>
              <a:defRPr sz="1100">
                <a:solidFill>
                  <a:srgbClr val="FFFFFF"/>
                </a:solidFill>
              </a:defRPr>
            </a:pP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Anti-Hallucination 4-Layer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└ 출처 URL 및 감사 추적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05840"/>
            <a:ext cx="3931920" cy="256032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📋 향후 로드맵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554480"/>
            <a:ext cx="164592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MVP (현재)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외부 API + 추상화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240280"/>
            <a:ext cx="164592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Azure/AWS Private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926080"/>
            <a:ext cx="164592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On-Premise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931920"/>
            <a:ext cx="64008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💡 로드맵이 있다는 것 자체가 가점 - 규제 대응 준비됨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심사위원 예상 질문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82296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Q: 외부 LLM에 고객 정보 나가나요?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→ Internal/External LLM 분리 설계. MVP에서는 공개 정보만 사용,</a:t>
            </a:r>
            <a:br/>
            <a:r>
              <a:t>Phase 2에서 On-premise LLM 도입 예정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82296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Q: 기존 KYC 시스템과 뭐가 다른가요?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→ 기존은 정적 체크리스트. rKYC는 실시간 시그널 모니터링.</a:t>
            </a:r>
            <a:br/>
            <a:r>
              <a:t>"지금 이 기업에 무슨 일이 생겼는지" 알려줌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20440"/>
            <a:ext cx="82296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Q: 정확도는?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→ 4-Layer 검증 체계로 Hallucination 방지 설계.</a:t>
            </a:r>
            <a:br/>
            <a:r>
              <a:t>실제 정확도는 파일럿에서 측정 필요 (솔직히 인정)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92040"/>
            <a:ext cx="82296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Q: LLM 죽으면 서비스도 죽나요?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59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→ 아닙니다. 4-Layer Fallback + Circuit Breaker로</a:t>
            </a:r>
            <a:br/>
            <a:r>
              <a:t>Claude→GPT→Gemini→Rule-Based 순차 전환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최종 심사평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931920" cy="228600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✅ 강점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현업 pain point 정확히 이해 (9/10)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해커톤 수준 넘는 완성도 (상위 5%)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확장 가능한 아키텍처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규제 고려한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05840"/>
            <a:ext cx="3931920" cy="228600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ACC15"/>
                </a:solidFill>
              </a:defRPr>
            </a:pPr>
            <a:r>
              <a:t>⚠️ 보완점 (인지)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5544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실제 정확도 데이터 필요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</a:defRPr>
            </a:pPr>
            <a:r>
              <a:t>→ 파일럿에서 측정 예정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Internal LLM 구현 로드맵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</a:defRPr>
            </a:pPr>
            <a:r>
              <a:t>→ Phase 2/3 문서화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8229600" cy="1188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💡 한 줄 요약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"rKYC는 3개 AI Agent가 서로 검증하고, 4단계 Fallback으로</a:t>
            </a:r>
            <a:br/>
            <a:r>
              <a:t>절대 실패하지 않는, 금융 규제를 충족하는 Enterprise-Grade AI 엔진"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73152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https://rkyc-wine.vercel.app/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CA3AF"/>
                </a:solidFill>
              </a:defRPr>
            </a:pPr>
            <a:r>
              <a:t>1. Signal Inbox: 전체 시그널 목록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CA3AF"/>
                </a:solidFill>
              </a:defRPr>
            </a:pPr>
            <a:r>
              <a:t>2. 기업 검색: 특정 기업 시그널 필터링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CA3AF"/>
                </a:solidFill>
              </a:defRPr>
            </a:pPr>
            <a:r>
              <a:t>3. Signal Detail: Evidence(출처)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CA3AF"/>
                </a:solidFill>
              </a:defRPr>
            </a:pPr>
            <a:r>
              <a:t>4. Corporate Profile: AI 수집 기업 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CA3AF"/>
                </a:solidFill>
              </a:defRPr>
            </a:pPr>
            <a:r>
              <a:t>5. Demo Panel: 분석 실행 트리거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B82F6"/>
                </a:solidFill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CA3AF"/>
                </a:solidFill>
              </a:defRPr>
            </a:pPr>
            <a:r>
              <a:t>rKYC - Really Know Your Customer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